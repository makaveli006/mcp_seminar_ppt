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7" r:id="rId9"/>
    <p:sldId id="268" r:id="rId10"/>
    <p:sldId id="266" r:id="rId11"/>
  </p:sldIdLst>
  <p:sldSz cx="14630400" cy="8229600"/>
  <p:notesSz cx="8229600" cy="14630400"/>
  <p:embeddedFontLst>
    <p:embeddedFont>
      <p:font typeface="Source Sans 3" panose="020B0604020202020204" charset="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67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420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13" Type="http://schemas.openxmlformats.org/officeDocument/2006/relationships/image" Target="../media/image22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sv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svg"/><Relationship Id="rId4" Type="http://schemas.openxmlformats.org/officeDocument/2006/relationships/image" Target="../media/image13.svg"/><Relationship Id="rId9" Type="http://schemas.openxmlformats.org/officeDocument/2006/relationships/image" Target="../media/image18.png"/><Relationship Id="rId14" Type="http://schemas.openxmlformats.org/officeDocument/2006/relationships/image" Target="../media/image23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3798" y="2858214"/>
            <a:ext cx="7416403" cy="14025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ea typeface="Montserrat Bold" pitchFamily="34" charset="-122"/>
                <a:cs typeface="Montserrat Bold" pitchFamily="34" charset="-120"/>
              </a:rPr>
              <a:t>Model Context Protocol (MCP)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63798" y="4630936"/>
            <a:ext cx="7416403" cy="74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The universal standard for connecting AI applications to external systems — think USB-C for AI integrations.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72676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3429" y="3364349"/>
            <a:ext cx="9589532" cy="6197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FFFFFF"/>
                </a:solidFill>
                <a:ea typeface="Montserrat Bold" pitchFamily="34" charset="-122"/>
                <a:cs typeface="Montserrat Bold" pitchFamily="34" charset="-120"/>
              </a:rPr>
              <a:t>What MCP Enables in the Real World</a:t>
            </a:r>
            <a:endParaRPr lang="en-US" sz="3900" dirty="0"/>
          </a:p>
        </p:txBody>
      </p:sp>
      <p:sp>
        <p:nvSpPr>
          <p:cNvPr id="4" name="Shape 1"/>
          <p:cNvSpPr/>
          <p:nvPr/>
        </p:nvSpPr>
        <p:spPr>
          <a:xfrm>
            <a:off x="763429" y="4311253"/>
            <a:ext cx="6442710" cy="1531263"/>
          </a:xfrm>
          <a:prstGeom prst="roundRect">
            <a:avLst>
              <a:gd name="adj" fmla="val 2137"/>
            </a:avLst>
          </a:prstGeom>
          <a:solidFill>
            <a:srgbClr val="303132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5" name="Text 2"/>
          <p:cNvSpPr/>
          <p:nvPr/>
        </p:nvSpPr>
        <p:spPr>
          <a:xfrm>
            <a:off x="981551" y="4529376"/>
            <a:ext cx="2478881" cy="3098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Intelligent Agents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81551" y="4970026"/>
            <a:ext cx="6006465" cy="65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AI assistants accessing calendars, Notion databases, and enterprise tools seamlessly through standardised connections.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7424261" y="4311253"/>
            <a:ext cx="6442710" cy="1531263"/>
          </a:xfrm>
          <a:prstGeom prst="roundRect">
            <a:avLst>
              <a:gd name="adj" fmla="val 2137"/>
            </a:avLst>
          </a:prstGeom>
          <a:solidFill>
            <a:srgbClr val="303132"/>
          </a:solidFill>
          <a:ln/>
        </p:spPr>
      </p:sp>
      <p:sp>
        <p:nvSpPr>
          <p:cNvPr id="8" name="Text 5"/>
          <p:cNvSpPr/>
          <p:nvPr/>
        </p:nvSpPr>
        <p:spPr>
          <a:xfrm>
            <a:off x="7642384" y="4529376"/>
            <a:ext cx="2538413" cy="3098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Creative Workflows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7642384" y="4970026"/>
            <a:ext cx="6006465" cy="65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Claude Code building functional applications directly from Figma designs, bridging design and development.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763429" y="6060638"/>
            <a:ext cx="6442710" cy="1531263"/>
          </a:xfrm>
          <a:prstGeom prst="roundRect">
            <a:avLst>
              <a:gd name="adj" fmla="val 2137"/>
            </a:avLst>
          </a:prstGeom>
          <a:solidFill>
            <a:srgbClr val="303132"/>
          </a:solidFill>
          <a:ln/>
        </p:spPr>
      </p:sp>
      <p:sp>
        <p:nvSpPr>
          <p:cNvPr id="11" name="Text 8"/>
          <p:cNvSpPr/>
          <p:nvPr/>
        </p:nvSpPr>
        <p:spPr>
          <a:xfrm>
            <a:off x="981551" y="6278761"/>
            <a:ext cx="2864287" cy="3098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Enterprise Integration</a:t>
            </a:r>
            <a:endParaRPr lang="en-US" sz="1950" dirty="0"/>
          </a:p>
        </p:txBody>
      </p:sp>
      <p:sp>
        <p:nvSpPr>
          <p:cNvPr id="12" name="Text 9"/>
          <p:cNvSpPr/>
          <p:nvPr/>
        </p:nvSpPr>
        <p:spPr>
          <a:xfrm>
            <a:off x="981551" y="6719411"/>
            <a:ext cx="6006465" cy="65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Chatbots querying multiple data sources simultaneously, providing unified answers from disparate systems.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424261" y="6060638"/>
            <a:ext cx="6442710" cy="1531263"/>
          </a:xfrm>
          <a:prstGeom prst="roundRect">
            <a:avLst>
              <a:gd name="adj" fmla="val 2137"/>
            </a:avLst>
          </a:prstGeom>
          <a:solidFill>
            <a:srgbClr val="303132"/>
          </a:solidFill>
          <a:ln/>
        </p:spPr>
      </p:sp>
      <p:sp>
        <p:nvSpPr>
          <p:cNvPr id="14" name="Text 11"/>
          <p:cNvSpPr/>
          <p:nvPr/>
        </p:nvSpPr>
        <p:spPr>
          <a:xfrm>
            <a:off x="7642384" y="6278761"/>
            <a:ext cx="2542342" cy="3098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Physical Workflows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7642384" y="6719411"/>
            <a:ext cx="6006465" cy="65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AI interacting with design tools like Blender and hardware systems including 3D printers for end-to-end production.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0200" y="510897"/>
            <a:ext cx="4222671" cy="527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ea typeface="Montserrat Bold" pitchFamily="34" charset="-122"/>
                <a:cs typeface="Montserrat Bold" pitchFamily="34" charset="-120"/>
              </a:rPr>
              <a:t>Why MCP Matters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50200" y="1503045"/>
            <a:ext cx="2533531" cy="316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ea typeface="Montserrat Bold" pitchFamily="34" charset="-122"/>
                <a:cs typeface="Montserrat Bold" pitchFamily="34" charset="-120"/>
              </a:rPr>
              <a:t>For Developers</a:t>
            </a:r>
            <a:endParaRPr lang="en-US" sz="19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00" y="2028706"/>
            <a:ext cx="4140756" cy="41407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0200" y="6378416"/>
            <a:ext cx="4140756" cy="278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5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Faster integrations with standardised interfaces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650200" y="6722150"/>
            <a:ext cx="4140756" cy="278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5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Reduced complexity through shared protocols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50200" y="7065883"/>
            <a:ext cx="4140756" cy="278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5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Reusable components across projects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50200" y="7409617"/>
            <a:ext cx="4140756" cy="278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5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Lower maintenance overhead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5251728" y="1503045"/>
            <a:ext cx="2533531" cy="316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ea typeface="Montserrat Bold" pitchFamily="34" charset="-122"/>
                <a:cs typeface="Montserrat Bold" pitchFamily="34" charset="-120"/>
              </a:rPr>
              <a:t>For AI Applications</a:t>
            </a:r>
            <a:endParaRPr lang="en-US" sz="19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1728" y="2028706"/>
            <a:ext cx="4140756" cy="41407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251728" y="6378416"/>
            <a:ext cx="4140756" cy="278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5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Access to shared ecosystem of tools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5251728" y="6722150"/>
            <a:ext cx="4140756" cy="278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5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Expanded resource availability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5251728" y="7065883"/>
            <a:ext cx="4140756" cy="278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5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Interoperability across platforms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5251728" y="7409617"/>
            <a:ext cx="4140756" cy="278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5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Community-driven innovation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9853255" y="1503045"/>
            <a:ext cx="2533531" cy="316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ea typeface="Montserrat Bold" pitchFamily="34" charset="-122"/>
                <a:cs typeface="Montserrat Bold" pitchFamily="34" charset="-120"/>
              </a:rPr>
              <a:t>For End Users</a:t>
            </a:r>
            <a:endParaRPr lang="en-US" sz="195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53255" y="2028706"/>
            <a:ext cx="4140756" cy="41407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853255" y="6378416"/>
            <a:ext cx="4140756" cy="278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5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More capable AI experiences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9853255" y="6722150"/>
            <a:ext cx="4140756" cy="278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5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Actionable insights from connected data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9853255" y="7065883"/>
            <a:ext cx="4140756" cy="278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5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Seamless workflow automation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9853255" y="7409617"/>
            <a:ext cx="4140756" cy="278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45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Enhanced productivity tools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0922" y="558522"/>
            <a:ext cx="7722156" cy="1154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ea typeface="Montserrat Bold" pitchFamily="34" charset="-122"/>
                <a:cs typeface="Montserrat Bold" pitchFamily="34" charset="-120"/>
              </a:rPr>
              <a:t>MCP Architecture: Client-Server Model</a:t>
            </a:r>
            <a:endParaRPr lang="en-US" sz="36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922" y="2017395"/>
            <a:ext cx="1015603" cy="1425893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929646" y="2220516"/>
            <a:ext cx="2308384" cy="288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MCP Host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929646" y="2630805"/>
            <a:ext cx="6503432" cy="60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55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The AI application (e.g., Claude Desktop) that orchestrates interactions and maintains the primary user interface.</a:t>
            </a:r>
            <a:endParaRPr lang="en-US" sz="15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922" y="3443288"/>
            <a:ext cx="1015603" cy="142589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929646" y="3646408"/>
            <a:ext cx="2308384" cy="288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MCP Client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1929646" y="4056698"/>
            <a:ext cx="6503432" cy="60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55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Embedded within the host, manages protocol communication and handles requests to MCP servers.</a:t>
            </a:r>
            <a:endParaRPr lang="en-US" sz="15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922" y="4869180"/>
            <a:ext cx="1015603" cy="142589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929646" y="5072301"/>
            <a:ext cx="2308384" cy="288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MCP Server</a:t>
            </a:r>
            <a:endParaRPr lang="en-US" sz="1800" dirty="0"/>
          </a:p>
        </p:txBody>
      </p:sp>
      <p:sp>
        <p:nvSpPr>
          <p:cNvPr id="12" name="Text 6"/>
          <p:cNvSpPr/>
          <p:nvPr/>
        </p:nvSpPr>
        <p:spPr>
          <a:xfrm>
            <a:off x="1929646" y="5482590"/>
            <a:ext cx="6503432" cy="60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55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Exposes resources, tools, and prompts. Can run locally via STDIO or remotely via Streamable HTTP.</a:t>
            </a:r>
            <a:endParaRPr lang="en-US" sz="1550" dirty="0"/>
          </a:p>
        </p:txBody>
      </p:sp>
      <p:sp>
        <p:nvSpPr>
          <p:cNvPr id="13" name="Shape 7"/>
          <p:cNvSpPr/>
          <p:nvPr/>
        </p:nvSpPr>
        <p:spPr>
          <a:xfrm>
            <a:off x="710922" y="6523553"/>
            <a:ext cx="7722156" cy="1147524"/>
          </a:xfrm>
          <a:prstGeom prst="roundRect">
            <a:avLst>
              <a:gd name="adj" fmla="val 2655"/>
            </a:avLst>
          </a:prstGeom>
          <a:solidFill>
            <a:srgbClr val="262626"/>
          </a:solidFill>
          <a:ln/>
        </p:spPr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043" y="6805374"/>
            <a:ext cx="253841" cy="203121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371005" y="6777395"/>
            <a:ext cx="6858953" cy="60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ea typeface="Source Sans 3" pitchFamily="34" charset="-122"/>
                <a:cs typeface="Source Sans 3" pitchFamily="34" charset="-120"/>
              </a:rPr>
              <a:t>Key Concept:</a:t>
            </a:r>
            <a:r>
              <a:rPr lang="en-US" sz="1550" dirty="0">
                <a:solidFill>
                  <a:srgbClr val="FFFFFF"/>
                </a:solidFill>
                <a:ea typeface="Source Sans 3" pitchFamily="34" charset="-122"/>
                <a:cs typeface="Source Sans 3" pitchFamily="34" charset="-120"/>
              </a:rPr>
              <a:t> MCP servers can run locally for file system access or remotely for cloud-based services, providing flexibility in deployment architecture.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3798" y="990838"/>
            <a:ext cx="9793962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ea typeface="Montserrat Bold" pitchFamily="34" charset="-122"/>
                <a:cs typeface="Montserrat Bold" pitchFamily="34" charset="-120"/>
              </a:rPr>
              <a:t>Understanding MCP's Two Layers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863798" y="2185749"/>
            <a:ext cx="6327934" cy="4035028"/>
          </a:xfrm>
          <a:prstGeom prst="roundRect">
            <a:avLst>
              <a:gd name="adj" fmla="val 3626"/>
            </a:avLst>
          </a:prstGeom>
          <a:solidFill>
            <a:srgbClr val="111213"/>
          </a:solidFill>
          <a:ln w="30480">
            <a:solidFill>
              <a:srgbClr val="494A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33318" y="2185749"/>
            <a:ext cx="121920" cy="4035028"/>
          </a:xfrm>
          <a:prstGeom prst="roundRect">
            <a:avLst>
              <a:gd name="adj" fmla="val 30368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232535" y="2463046"/>
            <a:ext cx="3365778" cy="420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Data Layer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1232535" y="3031688"/>
            <a:ext cx="5681901" cy="1480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Defines the core protocol using JSON-RPC for structured communication. Manages lifecycle events, capability negotiation, and primitives like tools, resources, and prompts.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232535" y="4660344"/>
            <a:ext cx="5681901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Protocol specification and primitives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232535" y="5116830"/>
            <a:ext cx="5681901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Lifecycle management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232535" y="5573316"/>
            <a:ext cx="5681901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Request-response patterns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7438549" y="2185749"/>
            <a:ext cx="6328053" cy="4035028"/>
          </a:xfrm>
          <a:prstGeom prst="roundRect">
            <a:avLst>
              <a:gd name="adj" fmla="val 3626"/>
            </a:avLst>
          </a:prstGeom>
          <a:solidFill>
            <a:srgbClr val="111213"/>
          </a:solidFill>
          <a:ln w="30480">
            <a:solidFill>
              <a:srgbClr val="494A4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08069" y="2185749"/>
            <a:ext cx="121920" cy="4035028"/>
          </a:xfrm>
          <a:prstGeom prst="roundRect">
            <a:avLst>
              <a:gd name="adj" fmla="val 30368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7807285" y="2463046"/>
            <a:ext cx="3365778" cy="420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Transport Layer</a:t>
            </a:r>
            <a:endParaRPr lang="en-US" sz="2650" dirty="0"/>
          </a:p>
        </p:txBody>
      </p:sp>
      <p:sp>
        <p:nvSpPr>
          <p:cNvPr id="13" name="Text 11"/>
          <p:cNvSpPr/>
          <p:nvPr/>
        </p:nvSpPr>
        <p:spPr>
          <a:xfrm>
            <a:off x="7807285" y="3031688"/>
            <a:ext cx="5682020" cy="1480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Handles physical communication and authentication between components. Supports multiple transport mechanisms including STDIO for local processes and HTTP for remote services.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807285" y="4660344"/>
            <a:ext cx="5682020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Communication protocols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807285" y="5116830"/>
            <a:ext cx="5682020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Authentication mechanisms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7807285" y="5573316"/>
            <a:ext cx="5682020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Connection management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63798" y="6498431"/>
            <a:ext cx="12902803" cy="74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This architectural separation enables MCP to remain transport-agnostic whilst maintaining consistent protocol semantics across different deployment scenarios.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4978" y="690086"/>
            <a:ext cx="7118271" cy="629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50"/>
              </a:lnSpc>
              <a:buNone/>
            </a:pPr>
            <a:r>
              <a:rPr lang="en-US" sz="3950" b="1" dirty="0">
                <a:solidFill>
                  <a:srgbClr val="FFFFFF"/>
                </a:solidFill>
                <a:ea typeface="Montserrat Bold" pitchFamily="34" charset="-122"/>
                <a:cs typeface="Montserrat Bold" pitchFamily="34" charset="-120"/>
              </a:rPr>
              <a:t>Data Layer: Core Primitives</a:t>
            </a:r>
            <a:endParaRPr lang="en-US" sz="39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4978" y="1761887"/>
            <a:ext cx="664250" cy="6642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15929" y="1948696"/>
            <a:ext cx="2516386" cy="314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Tools</a:t>
            </a:r>
            <a:endParaRPr lang="en-US" sz="1950" dirty="0"/>
          </a:p>
        </p:txBody>
      </p:sp>
      <p:sp>
        <p:nvSpPr>
          <p:cNvPr id="5" name="Text 2"/>
          <p:cNvSpPr/>
          <p:nvPr/>
        </p:nvSpPr>
        <p:spPr>
          <a:xfrm>
            <a:off x="1715929" y="2396014"/>
            <a:ext cx="5460921" cy="996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7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Executable actions that AI can invoke, such as querying databases, sending emails, or manipulating files. Each tool defines parameters and expected outputs.</a:t>
            </a:r>
            <a:endParaRPr lang="en-US" sz="17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53551" y="1761887"/>
            <a:ext cx="664250" cy="6642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394502" y="1948696"/>
            <a:ext cx="2516386" cy="314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Resources</a:t>
            </a:r>
            <a:endParaRPr lang="en-US" sz="1950" dirty="0"/>
          </a:p>
        </p:txBody>
      </p:sp>
      <p:sp>
        <p:nvSpPr>
          <p:cNvPr id="8" name="Text 4"/>
          <p:cNvSpPr/>
          <p:nvPr/>
        </p:nvSpPr>
        <p:spPr>
          <a:xfrm>
            <a:off x="8394502" y="2396014"/>
            <a:ext cx="5460921" cy="996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7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Contextual data sources that provide information to AI, including file contents, database records, or API responses. Resources are read-only by default.</a:t>
            </a:r>
            <a:endParaRPr lang="en-US" sz="17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978" y="3835360"/>
            <a:ext cx="664250" cy="66425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715929" y="4022169"/>
            <a:ext cx="2516386" cy="314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Prompts</a:t>
            </a:r>
            <a:endParaRPr lang="en-US" sz="1950" dirty="0"/>
          </a:p>
        </p:txBody>
      </p:sp>
      <p:sp>
        <p:nvSpPr>
          <p:cNvPr id="11" name="Text 6"/>
          <p:cNvSpPr/>
          <p:nvPr/>
        </p:nvSpPr>
        <p:spPr>
          <a:xfrm>
            <a:off x="1715929" y="4469487"/>
            <a:ext cx="5460921" cy="996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7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Reusable interaction templates that structure AI conversations. Define workflows, questioning patterns, and response formats for consistent experiences.</a:t>
            </a:r>
            <a:endParaRPr lang="en-US" sz="17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453551" y="3835360"/>
            <a:ext cx="664250" cy="66425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394502" y="4022169"/>
            <a:ext cx="2516386" cy="314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Sampling</a:t>
            </a:r>
            <a:endParaRPr lang="en-US" sz="1950" dirty="0"/>
          </a:p>
        </p:txBody>
      </p:sp>
      <p:sp>
        <p:nvSpPr>
          <p:cNvPr id="14" name="Text 8"/>
          <p:cNvSpPr/>
          <p:nvPr/>
        </p:nvSpPr>
        <p:spPr>
          <a:xfrm>
            <a:off x="8394502" y="4469487"/>
            <a:ext cx="5460921" cy="996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7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Enables servers to request AI completions through the client, maintaining human oversight whilst allowing complex multi-step reasoning.</a:t>
            </a:r>
            <a:endParaRPr lang="en-US" sz="17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74978" y="5908834"/>
            <a:ext cx="664250" cy="66425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715929" y="6095643"/>
            <a:ext cx="2516386" cy="314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Elicitation</a:t>
            </a:r>
            <a:endParaRPr lang="en-US" sz="1950" dirty="0"/>
          </a:p>
        </p:txBody>
      </p:sp>
      <p:sp>
        <p:nvSpPr>
          <p:cNvPr id="17" name="Text 10"/>
          <p:cNvSpPr/>
          <p:nvPr/>
        </p:nvSpPr>
        <p:spPr>
          <a:xfrm>
            <a:off x="1715929" y="6542961"/>
            <a:ext cx="5460921" cy="996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7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Structured requests for user input, allowing servers to gather necessary information through standardised prompts and validation.</a:t>
            </a:r>
            <a:endParaRPr lang="en-US" sz="17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453551" y="5908834"/>
            <a:ext cx="664250" cy="66425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8394502" y="6095643"/>
            <a:ext cx="2516386" cy="314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Logging</a:t>
            </a:r>
            <a:endParaRPr lang="en-US" sz="1950" dirty="0"/>
          </a:p>
        </p:txBody>
      </p:sp>
      <p:sp>
        <p:nvSpPr>
          <p:cNvPr id="20" name="Text 12"/>
          <p:cNvSpPr/>
          <p:nvPr/>
        </p:nvSpPr>
        <p:spPr>
          <a:xfrm>
            <a:off x="8394502" y="6542961"/>
            <a:ext cx="5460921" cy="996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7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Centralised event tracking and debugging capability, enabling servers to emit structured logs that clients can capture and display.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6161" y="564475"/>
            <a:ext cx="7867769" cy="581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50"/>
              </a:lnSpc>
              <a:buNone/>
            </a:pPr>
            <a:r>
              <a:rPr lang="en-US" sz="3650" b="1" dirty="0">
                <a:solidFill>
                  <a:srgbClr val="FFFFFF"/>
                </a:solidFill>
                <a:ea typeface="Montserrat Bold" pitchFamily="34" charset="-122"/>
                <a:cs typeface="Montserrat Bold" pitchFamily="34" charset="-120"/>
              </a:rPr>
              <a:t>Lifecycle &amp; Tool Interaction Flow</a:t>
            </a:r>
            <a:endParaRPr lang="en-US" sz="3650" dirty="0"/>
          </a:p>
        </p:txBody>
      </p:sp>
      <p:sp>
        <p:nvSpPr>
          <p:cNvPr id="3" name="Shape 1"/>
          <p:cNvSpPr/>
          <p:nvPr/>
        </p:nvSpPr>
        <p:spPr>
          <a:xfrm>
            <a:off x="7303770" y="1554956"/>
            <a:ext cx="22860" cy="6110168"/>
          </a:xfrm>
          <a:prstGeom prst="roundRect">
            <a:avLst>
              <a:gd name="adj" fmla="val 134283"/>
            </a:avLst>
          </a:prstGeom>
          <a:solidFill>
            <a:srgbClr val="494A4B"/>
          </a:solidFill>
          <a:ln/>
        </p:spPr>
      </p:sp>
      <p:sp>
        <p:nvSpPr>
          <p:cNvPr id="4" name="Shape 2"/>
          <p:cNvSpPr/>
          <p:nvPr/>
        </p:nvSpPr>
        <p:spPr>
          <a:xfrm>
            <a:off x="6493966" y="1773674"/>
            <a:ext cx="613886" cy="22860"/>
          </a:xfrm>
          <a:prstGeom prst="roundRect">
            <a:avLst>
              <a:gd name="adj" fmla="val 134283"/>
            </a:avLst>
          </a:prstGeom>
          <a:solidFill>
            <a:srgbClr val="494A4B"/>
          </a:solidFill>
          <a:ln/>
        </p:spPr>
      </p:sp>
      <p:sp>
        <p:nvSpPr>
          <p:cNvPr id="5" name="Shape 3"/>
          <p:cNvSpPr/>
          <p:nvPr/>
        </p:nvSpPr>
        <p:spPr>
          <a:xfrm>
            <a:off x="7084993" y="1554956"/>
            <a:ext cx="460415" cy="460415"/>
          </a:xfrm>
          <a:prstGeom prst="roundRect">
            <a:avLst>
              <a:gd name="adj" fmla="val 6667"/>
            </a:avLst>
          </a:prstGeom>
          <a:solidFill>
            <a:srgbClr val="303132"/>
          </a:solidFill>
          <a:ln/>
        </p:spPr>
      </p:sp>
      <p:sp>
        <p:nvSpPr>
          <p:cNvPr id="6" name="Text 4"/>
          <p:cNvSpPr/>
          <p:nvPr/>
        </p:nvSpPr>
        <p:spPr>
          <a:xfrm>
            <a:off x="7175659" y="1610737"/>
            <a:ext cx="278963" cy="348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21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1</a:t>
            </a:r>
            <a:endParaRPr lang="en-US" sz="2150" dirty="0"/>
          </a:p>
        </p:txBody>
      </p:sp>
      <p:sp>
        <p:nvSpPr>
          <p:cNvPr id="7" name="Text 5"/>
          <p:cNvSpPr/>
          <p:nvPr/>
        </p:nvSpPr>
        <p:spPr>
          <a:xfrm>
            <a:off x="3966448" y="1625203"/>
            <a:ext cx="2325529" cy="290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Initialisation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16161" y="2038588"/>
            <a:ext cx="5575816" cy="920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6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Client and server establish connection, exchange protocol versions, and negotiate supported capabilities through the initialize handshake.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22547" y="3001447"/>
            <a:ext cx="613886" cy="22860"/>
          </a:xfrm>
          <a:prstGeom prst="roundRect">
            <a:avLst>
              <a:gd name="adj" fmla="val 134283"/>
            </a:avLst>
          </a:prstGeom>
          <a:solidFill>
            <a:srgbClr val="494A4B"/>
          </a:solidFill>
          <a:ln/>
        </p:spPr>
      </p:sp>
      <p:sp>
        <p:nvSpPr>
          <p:cNvPr id="10" name="Shape 8"/>
          <p:cNvSpPr/>
          <p:nvPr/>
        </p:nvSpPr>
        <p:spPr>
          <a:xfrm>
            <a:off x="7084993" y="2782729"/>
            <a:ext cx="460415" cy="460415"/>
          </a:xfrm>
          <a:prstGeom prst="roundRect">
            <a:avLst>
              <a:gd name="adj" fmla="val 6667"/>
            </a:avLst>
          </a:prstGeom>
          <a:solidFill>
            <a:srgbClr val="303132"/>
          </a:solidFill>
          <a:ln/>
        </p:spPr>
      </p:sp>
      <p:sp>
        <p:nvSpPr>
          <p:cNvPr id="11" name="Text 9"/>
          <p:cNvSpPr/>
          <p:nvPr/>
        </p:nvSpPr>
        <p:spPr>
          <a:xfrm>
            <a:off x="7175659" y="2838510"/>
            <a:ext cx="278963" cy="348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21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2</a:t>
            </a:r>
            <a:endParaRPr lang="en-US" sz="2150" dirty="0"/>
          </a:p>
        </p:txBody>
      </p:sp>
      <p:sp>
        <p:nvSpPr>
          <p:cNvPr id="12" name="Text 10"/>
          <p:cNvSpPr/>
          <p:nvPr/>
        </p:nvSpPr>
        <p:spPr>
          <a:xfrm>
            <a:off x="8338423" y="2852976"/>
            <a:ext cx="2325529" cy="290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Tool Discovery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338423" y="3266361"/>
            <a:ext cx="5575816" cy="920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Client sends tools/list request. Server responds with available tools, their parameters, descriptions, and JSON schemas for validation.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93966" y="4059674"/>
            <a:ext cx="613886" cy="22860"/>
          </a:xfrm>
          <a:prstGeom prst="roundRect">
            <a:avLst>
              <a:gd name="adj" fmla="val 134283"/>
            </a:avLst>
          </a:prstGeom>
          <a:solidFill>
            <a:srgbClr val="494A4B"/>
          </a:solidFill>
          <a:ln/>
        </p:spPr>
      </p:sp>
      <p:sp>
        <p:nvSpPr>
          <p:cNvPr id="15" name="Shape 13"/>
          <p:cNvSpPr/>
          <p:nvPr/>
        </p:nvSpPr>
        <p:spPr>
          <a:xfrm>
            <a:off x="7084993" y="3840956"/>
            <a:ext cx="460415" cy="460415"/>
          </a:xfrm>
          <a:prstGeom prst="roundRect">
            <a:avLst>
              <a:gd name="adj" fmla="val 6667"/>
            </a:avLst>
          </a:prstGeom>
          <a:solidFill>
            <a:srgbClr val="303132"/>
          </a:solidFill>
          <a:ln/>
        </p:spPr>
      </p:sp>
      <p:sp>
        <p:nvSpPr>
          <p:cNvPr id="16" name="Text 14"/>
          <p:cNvSpPr/>
          <p:nvPr/>
        </p:nvSpPr>
        <p:spPr>
          <a:xfrm>
            <a:off x="7175659" y="3896737"/>
            <a:ext cx="278963" cy="348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21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3</a:t>
            </a:r>
            <a:endParaRPr lang="en-US" sz="2150" dirty="0"/>
          </a:p>
        </p:txBody>
      </p:sp>
      <p:sp>
        <p:nvSpPr>
          <p:cNvPr id="17" name="Text 15"/>
          <p:cNvSpPr/>
          <p:nvPr/>
        </p:nvSpPr>
        <p:spPr>
          <a:xfrm>
            <a:off x="3966448" y="3911203"/>
            <a:ext cx="2325529" cy="290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Tool Execution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16161" y="4324588"/>
            <a:ext cx="5575816" cy="920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6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AI decides to use a tool. Client sends tools/call with tool name and arguments. Server validates parameters and executes the requested action.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522547" y="5118021"/>
            <a:ext cx="613886" cy="22860"/>
          </a:xfrm>
          <a:prstGeom prst="roundRect">
            <a:avLst>
              <a:gd name="adj" fmla="val 134283"/>
            </a:avLst>
          </a:prstGeom>
          <a:solidFill>
            <a:srgbClr val="494A4B"/>
          </a:solidFill>
          <a:ln/>
        </p:spPr>
      </p:sp>
      <p:sp>
        <p:nvSpPr>
          <p:cNvPr id="20" name="Shape 18"/>
          <p:cNvSpPr/>
          <p:nvPr/>
        </p:nvSpPr>
        <p:spPr>
          <a:xfrm>
            <a:off x="7084993" y="4899303"/>
            <a:ext cx="460415" cy="460415"/>
          </a:xfrm>
          <a:prstGeom prst="roundRect">
            <a:avLst>
              <a:gd name="adj" fmla="val 6667"/>
            </a:avLst>
          </a:prstGeom>
          <a:solidFill>
            <a:srgbClr val="303132"/>
          </a:solidFill>
          <a:ln/>
        </p:spPr>
      </p:sp>
      <p:sp>
        <p:nvSpPr>
          <p:cNvPr id="21" name="Text 19"/>
          <p:cNvSpPr/>
          <p:nvPr/>
        </p:nvSpPr>
        <p:spPr>
          <a:xfrm>
            <a:off x="7175659" y="4955084"/>
            <a:ext cx="278963" cy="348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21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4</a:t>
            </a:r>
            <a:endParaRPr lang="en-US" sz="2150" dirty="0"/>
          </a:p>
        </p:txBody>
      </p:sp>
      <p:sp>
        <p:nvSpPr>
          <p:cNvPr id="22" name="Text 20"/>
          <p:cNvSpPr/>
          <p:nvPr/>
        </p:nvSpPr>
        <p:spPr>
          <a:xfrm>
            <a:off x="8338423" y="4969550"/>
            <a:ext cx="2367558" cy="290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Response Handling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38423" y="5382935"/>
            <a:ext cx="5575816" cy="920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Server returns structured content including results, errors, or additional context. Client processes response and integrates into conversation flow.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93966" y="6176367"/>
            <a:ext cx="613886" cy="22860"/>
          </a:xfrm>
          <a:prstGeom prst="roundRect">
            <a:avLst>
              <a:gd name="adj" fmla="val 134283"/>
            </a:avLst>
          </a:prstGeom>
          <a:solidFill>
            <a:srgbClr val="494A4B"/>
          </a:solidFill>
          <a:ln/>
        </p:spPr>
      </p:sp>
      <p:sp>
        <p:nvSpPr>
          <p:cNvPr id="25" name="Shape 23"/>
          <p:cNvSpPr/>
          <p:nvPr/>
        </p:nvSpPr>
        <p:spPr>
          <a:xfrm>
            <a:off x="7084993" y="5957649"/>
            <a:ext cx="460415" cy="460415"/>
          </a:xfrm>
          <a:prstGeom prst="roundRect">
            <a:avLst>
              <a:gd name="adj" fmla="val 6667"/>
            </a:avLst>
          </a:prstGeom>
          <a:solidFill>
            <a:srgbClr val="303132"/>
          </a:solidFill>
          <a:ln/>
        </p:spPr>
      </p:sp>
      <p:sp>
        <p:nvSpPr>
          <p:cNvPr id="26" name="Text 24"/>
          <p:cNvSpPr/>
          <p:nvPr/>
        </p:nvSpPr>
        <p:spPr>
          <a:xfrm>
            <a:off x="7175659" y="6013430"/>
            <a:ext cx="278963" cy="348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21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5</a:t>
            </a:r>
            <a:endParaRPr lang="en-US" sz="2150" dirty="0"/>
          </a:p>
        </p:txBody>
      </p:sp>
      <p:sp>
        <p:nvSpPr>
          <p:cNvPr id="27" name="Text 25"/>
          <p:cNvSpPr/>
          <p:nvPr/>
        </p:nvSpPr>
        <p:spPr>
          <a:xfrm>
            <a:off x="3966448" y="6027896"/>
            <a:ext cx="2325529" cy="290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Dynamic Updates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16161" y="6441281"/>
            <a:ext cx="5575816" cy="920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6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Server emits notifications when capabilities change. Client receives tools/list_changed, re-queries available tools, and updates AI's awareness.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87950F-FF49-8BF3-C670-4EE1AB20E72D}"/>
              </a:ext>
            </a:extLst>
          </p:cNvPr>
          <p:cNvSpPr txBox="1"/>
          <p:nvPr/>
        </p:nvSpPr>
        <p:spPr>
          <a:xfrm>
            <a:off x="780585" y="591015"/>
            <a:ext cx="24116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Advantages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729DBB-AF60-E01C-214E-251C651BE026}"/>
              </a:ext>
            </a:extLst>
          </p:cNvPr>
          <p:cNvSpPr txBox="1"/>
          <p:nvPr/>
        </p:nvSpPr>
        <p:spPr>
          <a:xfrm>
            <a:off x="780585" y="1237346"/>
            <a:ext cx="11378983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Universal Integration: MCP simplifies connecting AI models to diverse tools (e.g., GitHub, Slack, Google Drive) with a single protocol, reducing the need for custom integrations.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Real-Time Data Access: Enables dynamic, two-way communication for up-to-date responses, perfect for workflows like code analysis or CRM automation.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Scalability &amp; Modularity: Supports multiple transport methods (e.g., </a:t>
            </a:r>
            <a:r>
              <a:rPr lang="en-US" sz="2800" dirty="0" err="1">
                <a:solidFill>
                  <a:schemeClr val="bg1"/>
                </a:solidFill>
              </a:rPr>
              <a:t>WebSockets</a:t>
            </a:r>
            <a:r>
              <a:rPr lang="en-US" sz="2800" dirty="0">
                <a:solidFill>
                  <a:schemeClr val="bg1"/>
                </a:solidFill>
              </a:rPr>
              <a:t>, HTTP SSE) and modular server designs for flexible, reusable components.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Open-Source Ecosystem: Backed by a growing community with 250+ pre-built servers, fostering collaboration and rapid development.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Security: Built-in OAuth 2.0 and isolated connections enhance data protection during integrations.</a:t>
            </a:r>
            <a:endParaRPr lang="en-IN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89705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E1074D-4305-8CF5-7A3D-3F93CF06DF21}"/>
              </a:ext>
            </a:extLst>
          </p:cNvPr>
          <p:cNvSpPr txBox="1"/>
          <p:nvPr/>
        </p:nvSpPr>
        <p:spPr>
          <a:xfrm>
            <a:off x="858644" y="607071"/>
            <a:ext cx="24867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1" dirty="0">
                <a:solidFill>
                  <a:srgbClr val="FF0000"/>
                </a:solidFill>
              </a:rPr>
              <a:t>Disadvantages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6C64B2-F311-36EA-A405-A4249FA790ED}"/>
              </a:ext>
            </a:extLst>
          </p:cNvPr>
          <p:cNvSpPr txBox="1"/>
          <p:nvPr/>
        </p:nvSpPr>
        <p:spPr>
          <a:xfrm>
            <a:off x="858644" y="1224498"/>
            <a:ext cx="1363599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Learning Curve: Developers need to understand JSON-RPC and server setup, which can be challenging for beginners.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Early-Stage Limitations: As a young protocol, MCP lacks a standardized authentication mechanism and has limited long-term performance data.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Security Risks: Potential vulnerabilities like prompt injection or tool permission issues require careful implementation.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Fragmentation Risk: Without a centralized registry, finding reliable MCP servers can be time-consuming.</a:t>
            </a:r>
            <a:endParaRPr lang="en-IN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8798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A030B5D-6798-0C51-5896-9B9E6DBDA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81A21CA-D5EF-E43A-DC1B-E0ACDF2E7706}"/>
              </a:ext>
            </a:extLst>
          </p:cNvPr>
          <p:cNvSpPr txBox="1"/>
          <p:nvPr/>
        </p:nvSpPr>
        <p:spPr>
          <a:xfrm>
            <a:off x="6709572" y="3724507"/>
            <a:ext cx="7553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9600" b="1" dirty="0">
                <a:solidFill>
                  <a:srgbClr val="00B0F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9581495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816</Words>
  <Application>Microsoft Office PowerPoint</Application>
  <PresentationFormat>Custom</PresentationFormat>
  <Paragraphs>95</Paragraphs>
  <Slides>10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Source Sans 3</vt:lpstr>
      <vt:lpstr>Arial</vt:lpstr>
      <vt:lpstr>Montserrat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SUBIN KRISHNA K T</cp:lastModifiedBy>
  <cp:revision>4</cp:revision>
  <dcterms:created xsi:type="dcterms:W3CDTF">2025-12-24T17:51:53Z</dcterms:created>
  <dcterms:modified xsi:type="dcterms:W3CDTF">2026-01-06T21:43:28Z</dcterms:modified>
</cp:coreProperties>
</file>