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0" r:id="rId3"/>
    <p:sldId id="271" r:id="rId4"/>
    <p:sldId id="272" r:id="rId5"/>
    <p:sldId id="273" r:id="rId6"/>
    <p:sldId id="274" r:id="rId7"/>
    <p:sldId id="257" r:id="rId8"/>
    <p:sldId id="259" r:id="rId9"/>
    <p:sldId id="260" r:id="rId10"/>
    <p:sldId id="279" r:id="rId11"/>
    <p:sldId id="280" r:id="rId12"/>
    <p:sldId id="275" r:id="rId13"/>
    <p:sldId id="276" r:id="rId14"/>
    <p:sldId id="277" r:id="rId15"/>
    <p:sldId id="278" r:id="rId16"/>
    <p:sldId id="261" r:id="rId17"/>
    <p:sldId id="262" r:id="rId18"/>
    <p:sldId id="269" r:id="rId19"/>
    <p:sldId id="267" r:id="rId20"/>
    <p:sldId id="268" r:id="rId21"/>
    <p:sldId id="266" r:id="rId22"/>
  </p:sldIdLst>
  <p:sldSz cx="14630400" cy="8229600"/>
  <p:notesSz cx="8229600" cy="14630400"/>
  <p:embeddedFontLst>
    <p:embeddedFont>
      <p:font typeface="Source Sans 3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858214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Model Context Protocol (MCP)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4630936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universal standard for connecting AI applications to external systems — think USB-C for AI integrations.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5E2351-7502-C7ED-84AA-ED5738D05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19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2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885C0E-C62A-5C8F-9CED-B1D085C9D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11590" cy="3334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B62042-FC8F-CF84-7518-4236A17D4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17" y="2510203"/>
            <a:ext cx="7181290" cy="5342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CC7C3A-ED6B-EBD7-8069-BECAB9F52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93" y="3555713"/>
            <a:ext cx="4422893" cy="449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0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6F320C-9709-CCE6-1E5B-D6DA7D6E6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29"/>
            <a:ext cx="14670708" cy="815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1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310C96-919C-8BD1-6E03-C12AD13B1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70" y="1285479"/>
            <a:ext cx="13383843" cy="609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4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C604C-DE34-3DBB-3DF4-9AC7EA1EB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75" y="513847"/>
            <a:ext cx="13079650" cy="720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51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26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429" y="3364349"/>
            <a:ext cx="9589532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What MCP Enables in the Real World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63429" y="4311253"/>
            <a:ext cx="6442710" cy="153126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981551" y="4529376"/>
            <a:ext cx="247888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Intelligent Agents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81551" y="4970026"/>
            <a:ext cx="6006465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AI assistants accessing calendars, Notion databases, and enterprise tools seamlessly through standardised connections.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4261" y="4311253"/>
            <a:ext cx="6442710" cy="153126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7642384" y="4529376"/>
            <a:ext cx="253841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Creative Workflows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642384" y="4970026"/>
            <a:ext cx="6006465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Claude Code building functional applications directly from Figma designs, bridging design and development.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3429" y="6060638"/>
            <a:ext cx="6442710" cy="153126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981551" y="6278761"/>
            <a:ext cx="2864287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Enterprise Integration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81551" y="6719411"/>
            <a:ext cx="6006465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Chatbots querying multiple data sources simultaneously, providing unified answers from disparate systems.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24261" y="6060638"/>
            <a:ext cx="6442710" cy="153126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7642384" y="6278761"/>
            <a:ext cx="254234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Physical Workflows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642384" y="6719411"/>
            <a:ext cx="6006465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AI interacting with design tools like Blender and hardware systems including 3D printers for end-to-end production.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922" y="558522"/>
            <a:ext cx="7722156" cy="115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MCP Architecture: Client-Server Model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22" y="2017395"/>
            <a:ext cx="1015603" cy="14258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9646" y="2220516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MCP Host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929646" y="2630805"/>
            <a:ext cx="6503432" cy="6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The AI application (e.g., Claude Desktop) that orchestrates interactions and maintains the primary user interface.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22" y="3443288"/>
            <a:ext cx="1015603" cy="14258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9646" y="3646408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MCP Client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929646" y="4056698"/>
            <a:ext cx="6503432" cy="6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Embedded within the host, manages protocol communication and handles requests to MCP servers.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22" y="4869180"/>
            <a:ext cx="1015603" cy="14258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29646" y="5072301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929646" y="5482590"/>
            <a:ext cx="6503432" cy="6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Exposes resources, tools, and prompts. Can run locally via STDIO or remotely via Streamable HTTP.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710922" y="6523553"/>
            <a:ext cx="7722156" cy="1147524"/>
          </a:xfrm>
          <a:prstGeom prst="roundRect">
            <a:avLst>
              <a:gd name="adj" fmla="val 2655"/>
            </a:avLst>
          </a:prstGeom>
          <a:solidFill>
            <a:srgbClr val="262626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043" y="6805374"/>
            <a:ext cx="253841" cy="2031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1005" y="6777395"/>
            <a:ext cx="6858953" cy="6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Key Concept:</a:t>
            </a:r>
            <a:r>
              <a:rPr lang="en-US" sz="155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MCP servers can run locally for file system access or remotely for cloud-based services, providing flexibility in deployment architecture.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90838"/>
            <a:ext cx="979396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Understanding MCP's Two Layers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185749"/>
            <a:ext cx="6327934" cy="4035028"/>
          </a:xfrm>
          <a:prstGeom prst="roundRect">
            <a:avLst>
              <a:gd name="adj" fmla="val 362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185749"/>
            <a:ext cx="121920" cy="403502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2463046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Data Layer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232535" y="3031688"/>
            <a:ext cx="5681901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Defines the core protocol using JSON-RPC for structured communication. Manages lifecycle events, capability negotiation, and primitives like tools, resources, and prompts.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2535" y="4660344"/>
            <a:ext cx="56819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Protocol specification and primitives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2535" y="5116830"/>
            <a:ext cx="56819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Lifecycle management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32535" y="5573316"/>
            <a:ext cx="56819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Request-response patterns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38549" y="2185749"/>
            <a:ext cx="6328053" cy="4035028"/>
          </a:xfrm>
          <a:prstGeom prst="roundRect">
            <a:avLst>
              <a:gd name="adj" fmla="val 362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8069" y="2185749"/>
            <a:ext cx="121920" cy="403502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807285" y="2463046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Transport Layer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807285" y="3031688"/>
            <a:ext cx="568202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Handles physical communication and authentication between components. Supports multiple transport mechanisms including STDIO for local processes and HTTP for remote services.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807285" y="4660344"/>
            <a:ext cx="56820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Communication protocols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807285" y="5116830"/>
            <a:ext cx="56820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Authentication mechanisms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07285" y="5573316"/>
            <a:ext cx="56820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Connection management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3798" y="6498431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This architectural separation enables MCP to remain transport-agnostic whilst maintaining consistent protocol semantics across different deployment scenarios.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49E23E-A71A-C071-A5A7-186E46DE7E06}"/>
              </a:ext>
            </a:extLst>
          </p:cNvPr>
          <p:cNvSpPr txBox="1"/>
          <p:nvPr/>
        </p:nvSpPr>
        <p:spPr>
          <a:xfrm>
            <a:off x="2698595" y="380029"/>
            <a:ext cx="8861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✅ API ENDPOINT FOR AI AGENTS INSTEAD OF A WEBSITE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22BB6-95D9-DC1F-8698-91CA4CF5A63F}"/>
              </a:ext>
            </a:extLst>
          </p:cNvPr>
          <p:cNvSpPr txBox="1"/>
          <p:nvPr/>
        </p:nvSpPr>
        <p:spPr>
          <a:xfrm>
            <a:off x="3044283" y="2676293"/>
            <a:ext cx="1106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NOT NEW !!!!!!!</a:t>
            </a:r>
          </a:p>
          <a:p>
            <a:endParaRPr lang="en-IN" sz="2400" dirty="0"/>
          </a:p>
          <a:p>
            <a:r>
              <a:rPr lang="en-IN" sz="2400" dirty="0"/>
              <a:t>EVRYTHING IS API BUT REPACKAGED IN A DIFFERENT WAY FOR AI AGENTS SPECIFICALLY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D7667-8788-4E36-886B-CC702C07F2EB}"/>
              </a:ext>
            </a:extLst>
          </p:cNvPr>
          <p:cNvSpPr txBox="1"/>
          <p:nvPr/>
        </p:nvSpPr>
        <p:spPr>
          <a:xfrm>
            <a:off x="2163337" y="5241073"/>
            <a:ext cx="4059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MCP SERVERS ARE APIS BUT FOR AGENTS</a:t>
            </a:r>
          </a:p>
        </p:txBody>
      </p:sp>
    </p:spTree>
    <p:extLst>
      <p:ext uri="{BB962C8B-B14F-4D97-AF65-F5344CB8AC3E}">
        <p14:creationId xmlns:p14="http://schemas.microsoft.com/office/powerpoint/2010/main" val="4141452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25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7690E0-9F4D-8B1D-96C5-8CA9365F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55" y="1175927"/>
            <a:ext cx="11393490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63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1255A-F341-B810-46B8-F64671BC4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034" y="1637954"/>
            <a:ext cx="10974332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2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BEDAB4-B097-90E8-46C5-5846A077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902" y="1814191"/>
            <a:ext cx="10888595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4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376DF5-BE0E-77EB-35A8-D26E33254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270" y="1480770"/>
            <a:ext cx="12069859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57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978" y="690086"/>
            <a:ext cx="7118271" cy="62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Data Layer: Core Primitives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978" y="1761887"/>
            <a:ext cx="664250" cy="664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5929" y="1948696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Tools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715929" y="2396014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Executable actions that AI can invoke, such as querying databases, sending emails, or manipulating files. Each tool defines parameters and expected outputs.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3551" y="1761887"/>
            <a:ext cx="664250" cy="664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94502" y="1948696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Resources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394502" y="2396014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Contextual data sources that provide information to AI, including file contents, database records, or API responses. Resources are read-only by default.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978" y="3835360"/>
            <a:ext cx="664250" cy="664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15929" y="4022169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Prompts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715929" y="4469487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Reusable interaction templates that structure AI conversations. Define workflows, questioning patterns, and response formats for consistent experiences.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3551" y="3835360"/>
            <a:ext cx="664250" cy="664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94502" y="4022169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Sampling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394502" y="4469487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Enables servers to request AI completions through the client, maintaining human oversight whilst allowing complex multi-step reasoning.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4978" y="5908834"/>
            <a:ext cx="664250" cy="664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15929" y="6095643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Elicitation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715929" y="6542961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Structured requests for user input, allowing servers to gather necessary information through standardised prompts and validation.</a:t>
            </a:r>
            <a:endParaRPr lang="en-US" sz="17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3551" y="5908834"/>
            <a:ext cx="664250" cy="6642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94502" y="6095643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Logging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8394502" y="6542961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Centralised event tracking and debugging capability, enabling servers to emit structured logs that clients can capture and display.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161" y="564475"/>
            <a:ext cx="7867769" cy="5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Lifecycle &amp; Tool Interaction Flow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303770" y="1554956"/>
            <a:ext cx="22860" cy="6110168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4" name="Shape 2"/>
          <p:cNvSpPr/>
          <p:nvPr/>
        </p:nvSpPr>
        <p:spPr>
          <a:xfrm>
            <a:off x="6493966" y="1773674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5" name="Shape 3"/>
          <p:cNvSpPr/>
          <p:nvPr/>
        </p:nvSpPr>
        <p:spPr>
          <a:xfrm>
            <a:off x="7084993" y="1554956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7175659" y="1610737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3966448" y="1625203"/>
            <a:ext cx="232552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Initialisation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6161" y="2038588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Client and server establish connection, exchange protocol versions, and negotiate supported capabilities through the initialize handshake.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2547" y="3001447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10" name="Shape 8"/>
          <p:cNvSpPr/>
          <p:nvPr/>
        </p:nvSpPr>
        <p:spPr>
          <a:xfrm>
            <a:off x="7084993" y="2782729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7175659" y="2838510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8338423" y="2852976"/>
            <a:ext cx="232552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Tool Discovery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38423" y="3266361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Client sends tools/list request. Server responds with available tools, their parameters, descriptions, and JSON schemas for validation.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3966" y="4059674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4993" y="3840956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6" name="Text 14"/>
          <p:cNvSpPr/>
          <p:nvPr/>
        </p:nvSpPr>
        <p:spPr>
          <a:xfrm>
            <a:off x="7175659" y="3896737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3966448" y="3911203"/>
            <a:ext cx="232552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Tool Execution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6161" y="4324588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AI decides to use a tool. Client sends tools/call with tool name and arguments. Server validates parameters and executes the requested action.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2547" y="5118021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4993" y="4899303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1" name="Text 19"/>
          <p:cNvSpPr/>
          <p:nvPr/>
        </p:nvSpPr>
        <p:spPr>
          <a:xfrm>
            <a:off x="7175659" y="4955084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8338423" y="4969550"/>
            <a:ext cx="2367558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Response Handling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38423" y="5382935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Server returns structured content including results, errors, or additional context. Client processes response and integrates into conversation flow.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3966" y="6176367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4993" y="5957649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6" name="Text 24"/>
          <p:cNvSpPr/>
          <p:nvPr/>
        </p:nvSpPr>
        <p:spPr>
          <a:xfrm>
            <a:off x="7175659" y="6013430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3966448" y="6027896"/>
            <a:ext cx="232552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Dynamic Updates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6161" y="6441281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Server emits notifications when capabilities change. Client receives tools/list_changed, re-queries available tools, and updates AI's awareness.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505BD9-FE86-E24A-5378-F854CF9F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482" y="81776"/>
            <a:ext cx="11853747" cy="790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75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87950F-FF49-8BF3-C670-4EE1AB20E72D}"/>
              </a:ext>
            </a:extLst>
          </p:cNvPr>
          <p:cNvSpPr txBox="1"/>
          <p:nvPr/>
        </p:nvSpPr>
        <p:spPr>
          <a:xfrm>
            <a:off x="780585" y="591015"/>
            <a:ext cx="2411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29DBB-AF60-E01C-214E-251C651BE026}"/>
              </a:ext>
            </a:extLst>
          </p:cNvPr>
          <p:cNvSpPr txBox="1"/>
          <p:nvPr/>
        </p:nvSpPr>
        <p:spPr>
          <a:xfrm>
            <a:off x="780585" y="1237346"/>
            <a:ext cx="1137898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Universal Integration: MCP simplifies connecting AI models to diverse tools (e.g., GitHub, Slack, Google Drive) with a single protocol, reducing the need for custom integrations.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Real-Time Data Access: Enables dynamic, two-way communication for up-to-date responses, perfect for workflows like code analysis or CRM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Scalability &amp; Modularity: Supports multiple transport methods (e.g., </a:t>
            </a:r>
            <a:r>
              <a:rPr lang="en-US" sz="2800" dirty="0" err="1">
                <a:solidFill>
                  <a:schemeClr val="bg1"/>
                </a:solidFill>
              </a:rPr>
              <a:t>WebSockets</a:t>
            </a:r>
            <a:r>
              <a:rPr lang="en-US" sz="2800" dirty="0">
                <a:solidFill>
                  <a:schemeClr val="bg1"/>
                </a:solidFill>
              </a:rPr>
              <a:t>, HTTP SSE) and modular server designs for flexible, reusable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Open-Source Ecosystem: Backed by a growing community with 250+ pre-built servers, fostering collaboration and rapid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Security: Built-in OAuth 2.0 and isolated connections enhance data protection during integrations.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970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1074D-4305-8CF5-7A3D-3F93CF06DF21}"/>
              </a:ext>
            </a:extLst>
          </p:cNvPr>
          <p:cNvSpPr txBox="1"/>
          <p:nvPr/>
        </p:nvSpPr>
        <p:spPr>
          <a:xfrm>
            <a:off x="858644" y="607071"/>
            <a:ext cx="2486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Disadvantages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C64B2-F311-36EA-A405-A4249FA790ED}"/>
              </a:ext>
            </a:extLst>
          </p:cNvPr>
          <p:cNvSpPr txBox="1"/>
          <p:nvPr/>
        </p:nvSpPr>
        <p:spPr>
          <a:xfrm>
            <a:off x="858644" y="1224498"/>
            <a:ext cx="1363599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Learning Curve: Developers need to understand JSON-RPC and server setup, which can be challenging for beginners.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Early-Stage Limitations: As a young protocol, MCP lacks a standardized authentication mechanism and has limited long-term performance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Security Risks: Potential vulnerabilities like prompt injection or tool permission issues require careful implementation.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Fragmentation Risk: Without a centralized registry, finding reliable MCP servers can be time-consuming.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798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30B5D-6798-0C51-5896-9B9E6DBDA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1A21CA-D5EF-E43A-DC1B-E0ACDF2E7706}"/>
              </a:ext>
            </a:extLst>
          </p:cNvPr>
          <p:cNvSpPr txBox="1"/>
          <p:nvPr/>
        </p:nvSpPr>
        <p:spPr>
          <a:xfrm>
            <a:off x="6709572" y="3724507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b="1" dirty="0">
                <a:solidFill>
                  <a:srgbClr val="00B0F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5814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791</Words>
  <Application>Microsoft Office PowerPoint</Application>
  <PresentationFormat>Custom</PresentationFormat>
  <Paragraphs>83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Source Sans 3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SUBIN KRISHNA K T</cp:lastModifiedBy>
  <cp:revision>9</cp:revision>
  <dcterms:created xsi:type="dcterms:W3CDTF">2025-12-24T17:51:53Z</dcterms:created>
  <dcterms:modified xsi:type="dcterms:W3CDTF">2026-01-25T10:19:25Z</dcterms:modified>
</cp:coreProperties>
</file>