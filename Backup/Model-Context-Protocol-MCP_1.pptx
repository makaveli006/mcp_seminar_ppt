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Source Sans 3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2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858214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Model Context Protocol (MCP)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4630936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universal standard for connecting AI applications to external systems — think USB-C for AI integrations.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267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3429" y="3364349"/>
            <a:ext cx="9589532" cy="61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What MCP Enables in the Real World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63429" y="4311253"/>
            <a:ext cx="6442710" cy="153126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981551" y="4529376"/>
            <a:ext cx="247888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Intelligent Agents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81551" y="4970026"/>
            <a:ext cx="6006465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AI assistants accessing calendars, Notion databases, and enterprise tools seamlessly through standardised connections.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24261" y="4311253"/>
            <a:ext cx="6442710" cy="153126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7642384" y="4529376"/>
            <a:ext cx="2538413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Creative Workflows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642384" y="4970026"/>
            <a:ext cx="6006465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Claude Code building functional applications directly from Figma designs, bridging design and development.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63429" y="6060638"/>
            <a:ext cx="6442710" cy="153126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981551" y="6278761"/>
            <a:ext cx="2864287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Enterprise Integration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81551" y="6719411"/>
            <a:ext cx="6006465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Chatbots querying multiple data sources simultaneously, providing unified answers from disparate systems.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424261" y="6060638"/>
            <a:ext cx="6442710" cy="153126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4" name="Text 11"/>
          <p:cNvSpPr/>
          <p:nvPr/>
        </p:nvSpPr>
        <p:spPr>
          <a:xfrm>
            <a:off x="7642384" y="6278761"/>
            <a:ext cx="2542342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Physical Workflows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7642384" y="6719411"/>
            <a:ext cx="6006465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AI interacting with design tools like Blender and hardware systems including 3D printers for end-to-end production.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0200" y="510897"/>
            <a:ext cx="4222671" cy="52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Why MCP Matters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0200" y="1503045"/>
            <a:ext cx="2533531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For Developers</a:t>
            </a:r>
            <a:endParaRPr lang="en-US" sz="1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00" y="2028706"/>
            <a:ext cx="4140756" cy="4140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0200" y="6378416"/>
            <a:ext cx="414075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Faster integrations with standardised interfaces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50200" y="6722150"/>
            <a:ext cx="414075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Reduced complexity through shared protocols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0200" y="7065883"/>
            <a:ext cx="414075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Reusable components across projects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0200" y="7409617"/>
            <a:ext cx="414075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Lower maintenance overhead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51728" y="1503045"/>
            <a:ext cx="2533531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For AI Applications</a:t>
            </a:r>
            <a:endParaRPr lang="en-US" sz="1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728" y="2028706"/>
            <a:ext cx="4140756" cy="41407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1728" y="6378416"/>
            <a:ext cx="414075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Access to shared ecosystem of tools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251728" y="6722150"/>
            <a:ext cx="414075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Expanded resource availability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251728" y="7065883"/>
            <a:ext cx="414075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Interoperability across platforms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251728" y="7409617"/>
            <a:ext cx="414075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Community-driven innovation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9853255" y="1503045"/>
            <a:ext cx="2533531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For End Users</a:t>
            </a:r>
            <a:endParaRPr lang="en-US" sz="19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3255" y="2028706"/>
            <a:ext cx="4140756" cy="4140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53255" y="6378416"/>
            <a:ext cx="414075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More capable AI experiences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853255" y="6722150"/>
            <a:ext cx="414075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Actionable insights from connected data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853255" y="7065883"/>
            <a:ext cx="414075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Seamless workflow automation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853255" y="7409617"/>
            <a:ext cx="414075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Enhanced productivity tools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0922" y="558522"/>
            <a:ext cx="7722156" cy="115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MCP Architecture: Client-Server Model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22" y="2017395"/>
            <a:ext cx="1015603" cy="14258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9646" y="2220516"/>
            <a:ext cx="2308384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MCP Host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929646" y="2630805"/>
            <a:ext cx="6503432" cy="60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The AI application (e.g., Claude Desktop) that orchestrates interactions and maintains the primary user interface.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22" y="3443288"/>
            <a:ext cx="1015603" cy="14258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29646" y="3646408"/>
            <a:ext cx="2308384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MCP Client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929646" y="4056698"/>
            <a:ext cx="6503432" cy="60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Embedded within the host, manages protocol communication and handles requests to MCP servers.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22" y="4869180"/>
            <a:ext cx="1015603" cy="14258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29646" y="5072301"/>
            <a:ext cx="2308384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MCP Server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929646" y="5482590"/>
            <a:ext cx="6503432" cy="60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Exposes resources, tools, and prompts. Can run locally via STDIO or remotely via Streamable HTTP.</a:t>
            </a:r>
            <a:endParaRPr lang="en-US" sz="1550" dirty="0"/>
          </a:p>
        </p:txBody>
      </p:sp>
      <p:sp>
        <p:nvSpPr>
          <p:cNvPr id="13" name="Shape 7"/>
          <p:cNvSpPr/>
          <p:nvPr/>
        </p:nvSpPr>
        <p:spPr>
          <a:xfrm>
            <a:off x="710922" y="6523553"/>
            <a:ext cx="7722156" cy="1147524"/>
          </a:xfrm>
          <a:prstGeom prst="roundRect">
            <a:avLst>
              <a:gd name="adj" fmla="val 2655"/>
            </a:avLst>
          </a:prstGeom>
          <a:solidFill>
            <a:srgbClr val="262626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043" y="6805374"/>
            <a:ext cx="253841" cy="20312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71005" y="6777395"/>
            <a:ext cx="6858953" cy="60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Key Concept:</a:t>
            </a:r>
            <a:r>
              <a:rPr lang="en-US" sz="155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MCP servers can run locally for file system access or remotely for cloud-based services, providing flexibility in deployment architecture.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90838"/>
            <a:ext cx="9793962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Understanding MCP's Two Layers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185749"/>
            <a:ext cx="6327934" cy="4035028"/>
          </a:xfrm>
          <a:prstGeom prst="roundRect">
            <a:avLst>
              <a:gd name="adj" fmla="val 3626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318" y="2185749"/>
            <a:ext cx="121920" cy="4035028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32535" y="2463046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Data Layer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232535" y="3031688"/>
            <a:ext cx="5681901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Defines the core protocol using JSON-RPC for structured communication. Manages lifecycle events, capability negotiation, and primitives like tools, resources, and prompts.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2535" y="4660344"/>
            <a:ext cx="56819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Protocol specification and primitives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32535" y="5116830"/>
            <a:ext cx="56819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Lifecycle management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32535" y="5573316"/>
            <a:ext cx="56819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Request-response patterns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438549" y="2185749"/>
            <a:ext cx="6328053" cy="4035028"/>
          </a:xfrm>
          <a:prstGeom prst="roundRect">
            <a:avLst>
              <a:gd name="adj" fmla="val 3626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8069" y="2185749"/>
            <a:ext cx="121920" cy="4035028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807285" y="2463046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Transport Layer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807285" y="3031688"/>
            <a:ext cx="568202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Handles physical communication and authentication between components. Supports multiple transport mechanisms including STDIO for local processes and HTTP for remote services.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807285" y="4660344"/>
            <a:ext cx="56820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Communication protocols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807285" y="5116830"/>
            <a:ext cx="56820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Authentication mechanisms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07285" y="5573316"/>
            <a:ext cx="56820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Connection management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3798" y="6498431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This architectural separation enables MCP to remain transport-agnostic whilst maintaining consistent protocol semantics across different deployment scenarios.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4978" y="690086"/>
            <a:ext cx="7118271" cy="629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Data Layer: Core Primitives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978" y="1761887"/>
            <a:ext cx="664250" cy="664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5929" y="1948696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Tools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715929" y="2396014"/>
            <a:ext cx="5460921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Executable actions that AI can invoke, such as querying databases, sending emails, or manipulating files. Each tool defines parameters and expected outputs.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3551" y="1761887"/>
            <a:ext cx="664250" cy="664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94502" y="1948696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Resources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8394502" y="2396014"/>
            <a:ext cx="5460921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Contextual data sources that provide information to AI, including file contents, database records, or API responses. Resources are read-only by default.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978" y="3835360"/>
            <a:ext cx="664250" cy="664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15929" y="4022169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Prompts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715929" y="4469487"/>
            <a:ext cx="5460921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Reusable interaction templates that structure AI conversations. Define workflows, questioning patterns, and response formats for consistent experiences.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3551" y="3835360"/>
            <a:ext cx="664250" cy="664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94502" y="4022169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Sampling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394502" y="4469487"/>
            <a:ext cx="5460921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Enables servers to request AI completions through the client, maintaining human oversight whilst allowing complex multi-step reasoning.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4978" y="5908834"/>
            <a:ext cx="664250" cy="664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15929" y="6095643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Elicitation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715929" y="6542961"/>
            <a:ext cx="5460921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Structured requests for user input, allowing servers to gather necessary information through standardised prompts and validation.</a:t>
            </a:r>
            <a:endParaRPr lang="en-US" sz="17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53551" y="5908834"/>
            <a:ext cx="664250" cy="6642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94502" y="6095643"/>
            <a:ext cx="2516386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Logging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8394502" y="6542961"/>
            <a:ext cx="5460921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Centralised event tracking and debugging capability, enabling servers to emit structured logs that clients can capture and display.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161" y="564475"/>
            <a:ext cx="7867769" cy="581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Lifecycle &amp; Tool Interaction Flow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7303770" y="1554956"/>
            <a:ext cx="22860" cy="6110168"/>
          </a:xfrm>
          <a:prstGeom prst="roundRect">
            <a:avLst>
              <a:gd name="adj" fmla="val 134283"/>
            </a:avLst>
          </a:prstGeom>
          <a:solidFill>
            <a:srgbClr val="494A4B"/>
          </a:solidFill>
          <a:ln/>
        </p:spPr>
      </p:sp>
      <p:sp>
        <p:nvSpPr>
          <p:cNvPr id="4" name="Shape 2"/>
          <p:cNvSpPr/>
          <p:nvPr/>
        </p:nvSpPr>
        <p:spPr>
          <a:xfrm>
            <a:off x="6493966" y="1773674"/>
            <a:ext cx="613886" cy="22860"/>
          </a:xfrm>
          <a:prstGeom prst="roundRect">
            <a:avLst>
              <a:gd name="adj" fmla="val 134283"/>
            </a:avLst>
          </a:prstGeom>
          <a:solidFill>
            <a:srgbClr val="494A4B"/>
          </a:solidFill>
          <a:ln/>
        </p:spPr>
      </p:sp>
      <p:sp>
        <p:nvSpPr>
          <p:cNvPr id="5" name="Shape 3"/>
          <p:cNvSpPr/>
          <p:nvPr/>
        </p:nvSpPr>
        <p:spPr>
          <a:xfrm>
            <a:off x="7084993" y="1554956"/>
            <a:ext cx="460415" cy="460415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7175659" y="1610737"/>
            <a:ext cx="27896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3966448" y="1625203"/>
            <a:ext cx="2325529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Initialisation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6161" y="2038588"/>
            <a:ext cx="5575816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Client and server establish connection, exchange protocol versions, and negotiate supported capabilities through the initialize handshake.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22547" y="3001447"/>
            <a:ext cx="613886" cy="22860"/>
          </a:xfrm>
          <a:prstGeom prst="roundRect">
            <a:avLst>
              <a:gd name="adj" fmla="val 134283"/>
            </a:avLst>
          </a:prstGeom>
          <a:solidFill>
            <a:srgbClr val="494A4B"/>
          </a:solidFill>
          <a:ln/>
        </p:spPr>
      </p:sp>
      <p:sp>
        <p:nvSpPr>
          <p:cNvPr id="10" name="Shape 8"/>
          <p:cNvSpPr/>
          <p:nvPr/>
        </p:nvSpPr>
        <p:spPr>
          <a:xfrm>
            <a:off x="7084993" y="2782729"/>
            <a:ext cx="460415" cy="460415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1" name="Text 9"/>
          <p:cNvSpPr/>
          <p:nvPr/>
        </p:nvSpPr>
        <p:spPr>
          <a:xfrm>
            <a:off x="7175659" y="2838510"/>
            <a:ext cx="27896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8338423" y="2852976"/>
            <a:ext cx="2325529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Tool Discovery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38423" y="3266361"/>
            <a:ext cx="5575816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Client sends tools/list request. Server responds with available tools, their parameters, descriptions, and JSON schemas for validation.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3966" y="4059674"/>
            <a:ext cx="613886" cy="22860"/>
          </a:xfrm>
          <a:prstGeom prst="roundRect">
            <a:avLst>
              <a:gd name="adj" fmla="val 134283"/>
            </a:avLst>
          </a:prstGeom>
          <a:solidFill>
            <a:srgbClr val="494A4B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4993" y="3840956"/>
            <a:ext cx="460415" cy="460415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6" name="Text 14"/>
          <p:cNvSpPr/>
          <p:nvPr/>
        </p:nvSpPr>
        <p:spPr>
          <a:xfrm>
            <a:off x="7175659" y="3896737"/>
            <a:ext cx="27896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3966448" y="3911203"/>
            <a:ext cx="2325529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Tool Execution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6161" y="4324588"/>
            <a:ext cx="5575816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AI decides to use a tool. Client sends tools/call with tool name and arguments. Server validates parameters and executes the requested action.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22547" y="5118021"/>
            <a:ext cx="613886" cy="22860"/>
          </a:xfrm>
          <a:prstGeom prst="roundRect">
            <a:avLst>
              <a:gd name="adj" fmla="val 134283"/>
            </a:avLst>
          </a:prstGeom>
          <a:solidFill>
            <a:srgbClr val="494A4B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4993" y="4899303"/>
            <a:ext cx="460415" cy="460415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21" name="Text 19"/>
          <p:cNvSpPr/>
          <p:nvPr/>
        </p:nvSpPr>
        <p:spPr>
          <a:xfrm>
            <a:off x="7175659" y="4955084"/>
            <a:ext cx="27896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8338423" y="4969550"/>
            <a:ext cx="2367558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Response Handling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38423" y="5382935"/>
            <a:ext cx="5575816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Server returns structured content including results, errors, or additional context. Client processes response and integrates into conversation flow.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3966" y="6176367"/>
            <a:ext cx="613886" cy="22860"/>
          </a:xfrm>
          <a:prstGeom prst="roundRect">
            <a:avLst>
              <a:gd name="adj" fmla="val 134283"/>
            </a:avLst>
          </a:prstGeom>
          <a:solidFill>
            <a:srgbClr val="494A4B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4993" y="5957649"/>
            <a:ext cx="460415" cy="460415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26" name="Text 24"/>
          <p:cNvSpPr/>
          <p:nvPr/>
        </p:nvSpPr>
        <p:spPr>
          <a:xfrm>
            <a:off x="7175659" y="6013430"/>
            <a:ext cx="27896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3966448" y="6027896"/>
            <a:ext cx="2325529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Dynamic Updates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6161" y="6441281"/>
            <a:ext cx="5575816" cy="920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Server emits notifications when capabilities change. Client receives tools/list_changed, re-queries available tools, and updates AI's awareness.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543" y="885825"/>
            <a:ext cx="11334393" cy="587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Real-Time Updates: Event-Driven Architecture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23543" y="1989773"/>
            <a:ext cx="371760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Why Notifications Matter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23543" y="2548890"/>
            <a:ext cx="7708225" cy="62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Traditional polling creates latency and wastes resources. MCP's notification system enables servers to push updates immediately when their state changes.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3543" y="3401497"/>
            <a:ext cx="465058" cy="46505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1395293" y="3472458"/>
            <a:ext cx="2601992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Dynamic Capabilities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5293" y="3972758"/>
            <a:ext cx="3053120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Tools and resources can appear or disappear based on runtime conditions, user permissions, or external state changes.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6779" y="3401497"/>
            <a:ext cx="465058" cy="46505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9" name="Text 7"/>
          <p:cNvSpPr/>
          <p:nvPr/>
        </p:nvSpPr>
        <p:spPr>
          <a:xfrm>
            <a:off x="5378529" y="3472458"/>
            <a:ext cx="3053239" cy="58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Efficient Communication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78529" y="4266367"/>
            <a:ext cx="3053239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Event-driven updates eliminate polling overhead, reducing network traffic and improving responsiveness in AI workflows.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3543" y="5919907"/>
            <a:ext cx="465058" cy="46505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2" name="Text 10"/>
          <p:cNvSpPr/>
          <p:nvPr/>
        </p:nvSpPr>
        <p:spPr>
          <a:xfrm>
            <a:off x="1395293" y="5990868"/>
            <a:ext cx="2750344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Contextual Awareness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95293" y="6491168"/>
            <a:ext cx="7036475" cy="62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AI maintains accurate understanding of available capabilities, preventing errors from attempting to use unavailable tools.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737" y="2015609"/>
            <a:ext cx="4970621" cy="49706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6724" y="542687"/>
            <a:ext cx="7763351" cy="1120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Client-Side Features: Advanced Capabilities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176724" y="1959173"/>
            <a:ext cx="3783092" cy="3061097"/>
          </a:xfrm>
          <a:prstGeom prst="roundRect">
            <a:avLst>
              <a:gd name="adj" fmla="val 967"/>
            </a:avLst>
          </a:prstGeom>
          <a:solidFill>
            <a:srgbClr val="303132"/>
          </a:solidFill>
          <a:ln/>
        </p:spPr>
      </p:sp>
      <p:sp>
        <p:nvSpPr>
          <p:cNvPr id="5" name="Shape 2"/>
          <p:cNvSpPr/>
          <p:nvPr/>
        </p:nvSpPr>
        <p:spPr>
          <a:xfrm>
            <a:off x="6373892" y="2156341"/>
            <a:ext cx="591741" cy="591741"/>
          </a:xfrm>
          <a:prstGeom prst="roundRect">
            <a:avLst>
              <a:gd name="adj" fmla="val 15451161"/>
            </a:avLst>
          </a:prstGeom>
          <a:solidFill>
            <a:srgbClr val="FFFF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6650" y="2318980"/>
            <a:ext cx="266224" cy="2662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3892" y="2945249"/>
            <a:ext cx="2241471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Elicitation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373892" y="3343751"/>
            <a:ext cx="3388757" cy="147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Servers request structured input from users through standardised forms. Supports validation, type checking, and conditional fields for complex data gathering.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10156984" y="1959173"/>
            <a:ext cx="3783092" cy="3061097"/>
          </a:xfrm>
          <a:prstGeom prst="roundRect">
            <a:avLst>
              <a:gd name="adj" fmla="val 967"/>
            </a:avLst>
          </a:prstGeom>
          <a:solidFill>
            <a:srgbClr val="303132"/>
          </a:solidFill>
          <a:ln/>
        </p:spPr>
      </p:sp>
      <p:sp>
        <p:nvSpPr>
          <p:cNvPr id="10" name="Shape 6"/>
          <p:cNvSpPr/>
          <p:nvPr/>
        </p:nvSpPr>
        <p:spPr>
          <a:xfrm>
            <a:off x="10354151" y="2156341"/>
            <a:ext cx="591741" cy="591741"/>
          </a:xfrm>
          <a:prstGeom prst="roundRect">
            <a:avLst>
              <a:gd name="adj" fmla="val 15451161"/>
            </a:avLst>
          </a:prstGeom>
          <a:solidFill>
            <a:srgbClr val="FFFF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6910" y="2318980"/>
            <a:ext cx="266224" cy="2662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54151" y="2945249"/>
            <a:ext cx="2241471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Roots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0354151" y="3343751"/>
            <a:ext cx="3388757" cy="147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Define filesystem scope and boundaries for resource access. Acts as coordination mechanism, helping servers understand their operational context without enforcing security.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176724" y="5217438"/>
            <a:ext cx="7763351" cy="2469356"/>
          </a:xfrm>
          <a:prstGeom prst="roundRect">
            <a:avLst>
              <a:gd name="adj" fmla="val 1198"/>
            </a:avLst>
          </a:prstGeom>
          <a:solidFill>
            <a:srgbClr val="303132"/>
          </a:solidFill>
          <a:ln/>
        </p:spPr>
      </p:sp>
      <p:sp>
        <p:nvSpPr>
          <p:cNvPr id="15" name="Shape 10"/>
          <p:cNvSpPr/>
          <p:nvPr/>
        </p:nvSpPr>
        <p:spPr>
          <a:xfrm>
            <a:off x="6373892" y="5414605"/>
            <a:ext cx="591741" cy="591741"/>
          </a:xfrm>
          <a:prstGeom prst="roundRect">
            <a:avLst>
              <a:gd name="adj" fmla="val 15451161"/>
            </a:avLst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6650" y="5577245"/>
            <a:ext cx="266224" cy="2662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73892" y="6203513"/>
            <a:ext cx="2241471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Sampling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6373892" y="6602016"/>
            <a:ext cx="7369016" cy="887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Enables servers to request AI completions via the client, maintaining human-in-the-loop oversight. Critical for multi-step reasoning whilst preserving user control over model behaviour.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9361" y="470892"/>
            <a:ext cx="7351633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Design Philosophy &amp; Security Model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61" y="1406843"/>
            <a:ext cx="6507004" cy="65070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31656" y="1385411"/>
            <a:ext cx="2335173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ea typeface="Montserrat Bold" pitchFamily="34" charset="-122"/>
                <a:cs typeface="Montserrat Bold" pitchFamily="34" charset="-120"/>
              </a:rPr>
              <a:t>Core Principles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531656" y="1869877"/>
            <a:ext cx="6507004" cy="1316117"/>
          </a:xfrm>
          <a:prstGeom prst="roundRect">
            <a:avLst>
              <a:gd name="adj" fmla="val 195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5728" y="2063948"/>
            <a:ext cx="3250644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Coordination Over Enforcement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25728" y="2478286"/>
            <a:ext cx="6118860" cy="513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Roots provide guidance about filesystem scope but don't enforce access control. Clients maintain ultimate security decisions.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531656" y="3357205"/>
            <a:ext cx="6507004" cy="1316117"/>
          </a:xfrm>
          <a:prstGeom prst="roundRect">
            <a:avLst>
              <a:gd name="adj" fmla="val 195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5728" y="3551277"/>
            <a:ext cx="1945957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Client Authority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25728" y="3965615"/>
            <a:ext cx="6118860" cy="513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MCP hosts retain complete control over permissions, model selection, and execution decisions. Servers make requests; clients authorise.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31656" y="4844534"/>
            <a:ext cx="6507004" cy="1316117"/>
          </a:xfrm>
          <a:prstGeom prst="roundRect">
            <a:avLst>
              <a:gd name="adj" fmla="val 195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5728" y="5038606"/>
            <a:ext cx="1945957" cy="24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ea typeface="Montserrat Bold" pitchFamily="34" charset="-122"/>
                <a:cs typeface="Montserrat Bold" pitchFamily="34" charset="-120"/>
              </a:rPr>
              <a:t>Human Oversight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25728" y="5452943"/>
            <a:ext cx="6118860" cy="513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E2E6E9"/>
                </a:solidFill>
                <a:ea typeface="Source Sans 3" pitchFamily="34" charset="-122"/>
                <a:cs typeface="Source Sans 3" pitchFamily="34" charset="-120"/>
              </a:rPr>
              <a:t>Sampling workflows require human supervision, ensuring AI actions remain transparent and controllable throughout execution chains.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531656" y="6353294"/>
            <a:ext cx="6507004" cy="967264"/>
          </a:xfrm>
          <a:prstGeom prst="roundRect">
            <a:avLst>
              <a:gd name="adj" fmla="val 2656"/>
            </a:avLst>
          </a:prstGeom>
          <a:solidFill>
            <a:srgbClr val="26262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2868" y="6592610"/>
            <a:ext cx="213955" cy="1712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88035" y="6567249"/>
            <a:ext cx="5779413" cy="513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Security First:</a:t>
            </a:r>
            <a:r>
              <a:rPr lang="en-US" sz="1300" dirty="0">
                <a:solidFill>
                  <a:srgbClr val="FFFFFF"/>
                </a:solidFill>
                <a:ea typeface="Source Sans 3" pitchFamily="34" charset="-122"/>
                <a:cs typeface="Source Sans 3" pitchFamily="34" charset="-120"/>
              </a:rPr>
              <a:t> MCP is designed with defence-in-depth principles. Servers expose capabilities, but clients enforce policies and users maintain final control.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30B5D-6798-0C51-5896-9B9E6DBDA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1A21CA-D5EF-E43A-DC1B-E0ACDF2E7706}"/>
              </a:ext>
            </a:extLst>
          </p:cNvPr>
          <p:cNvSpPr txBox="1"/>
          <p:nvPr/>
        </p:nvSpPr>
        <p:spPr>
          <a:xfrm>
            <a:off x="6709572" y="3724507"/>
            <a:ext cx="7553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600" b="1" dirty="0">
                <a:solidFill>
                  <a:srgbClr val="00B0F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58149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891</Words>
  <Application>Microsoft Office PowerPoint</Application>
  <PresentationFormat>Custom</PresentationFormat>
  <Paragraphs>112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Source Sans 3</vt:lpstr>
      <vt:lpstr>Montserrat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SUBIN KRISHNA K T</cp:lastModifiedBy>
  <cp:revision>3</cp:revision>
  <dcterms:created xsi:type="dcterms:W3CDTF">2025-12-24T17:51:53Z</dcterms:created>
  <dcterms:modified xsi:type="dcterms:W3CDTF">2025-12-24T18:04:00Z</dcterms:modified>
</cp:coreProperties>
</file>